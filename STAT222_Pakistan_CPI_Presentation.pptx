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ood Akbar" userId="3220b02212a13493" providerId="LiveId" clId="{02906FCA-C708-499A-B3D6-5CF3B3D70FDD}"/>
    <pc:docChg chg="modSld">
      <pc:chgData name="Dawood Akbar" userId="3220b02212a13493" providerId="LiveId" clId="{02906FCA-C708-499A-B3D6-5CF3B3D70FDD}" dt="2026-05-05T08:48:57.091" v="60" actId="20577"/>
      <pc:docMkLst>
        <pc:docMk/>
      </pc:docMkLst>
      <pc:sldChg chg="modSp mod">
        <pc:chgData name="Dawood Akbar" userId="3220b02212a13493" providerId="LiveId" clId="{02906FCA-C708-499A-B3D6-5CF3B3D70FDD}" dt="2026-05-05T08:48:57.091" v="60" actId="20577"/>
        <pc:sldMkLst>
          <pc:docMk/>
          <pc:sldMk cId="0" sldId="256"/>
        </pc:sldMkLst>
        <pc:spChg chg="mod">
          <ac:chgData name="Dawood Akbar" userId="3220b02212a13493" providerId="LiveId" clId="{02906FCA-C708-499A-B3D6-5CF3B3D70FDD}" dt="2026-05-05T08:48:57.091" v="60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Dawood Akbar" userId="3220b02212a13493" providerId="LiveId" clId="{02906FCA-C708-499A-B3D6-5CF3B3D70FDD}" dt="2026-05-05T08:48:48.654" v="45" actId="20577"/>
          <ac:spMkLst>
            <pc:docMk/>
            <pc:sldMk cId="0" sldId="256"/>
            <ac:spMk id="2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CPI</c:v>
                </c:pt>
              </c:strCache>
            </c:strRef>
          </c:tx>
          <c:spPr>
            <a:ln w="31750" cap="flat">
              <a:solidFill>
                <a:srgbClr val="185A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85ADB"/>
              </a:solidFill>
              <a:ln w="9525" cap="flat">
                <a:solidFill>
                  <a:srgbClr val="185AD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Jul'22</c:v>
                </c:pt>
                <c:pt idx="1">
                  <c:v>Oct'22</c:v>
                </c:pt>
                <c:pt idx="2">
                  <c:v>Jan'23</c:v>
                </c:pt>
                <c:pt idx="3">
                  <c:v>Apr'23</c:v>
                </c:pt>
                <c:pt idx="4">
                  <c:v>Jul'23</c:v>
                </c:pt>
                <c:pt idx="5">
                  <c:v>Oct'23</c:v>
                </c:pt>
                <c:pt idx="6">
                  <c:v>Jan'24</c:v>
                </c:pt>
                <c:pt idx="7">
                  <c:v>Apr'24</c:v>
                </c:pt>
                <c:pt idx="8">
                  <c:v>Jul'24</c:v>
                </c:pt>
                <c:pt idx="9">
                  <c:v>Oct'24</c:v>
                </c:pt>
                <c:pt idx="10">
                  <c:v>Jan'25</c:v>
                </c:pt>
                <c:pt idx="11">
                  <c:v>Mar'25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160.1</c:v>
                </c:pt>
                <c:pt idx="1">
                  <c:v>167.4</c:v>
                </c:pt>
                <c:pt idx="2">
                  <c:v>188.9</c:v>
                </c:pt>
                <c:pt idx="3">
                  <c:v>196.3</c:v>
                </c:pt>
                <c:pt idx="4">
                  <c:v>191.3</c:v>
                </c:pt>
                <c:pt idx="5">
                  <c:v>216.7</c:v>
                </c:pt>
                <c:pt idx="6">
                  <c:v>229.2</c:v>
                </c:pt>
                <c:pt idx="7">
                  <c:v>241.6</c:v>
                </c:pt>
                <c:pt idx="8">
                  <c:v>261.3</c:v>
                </c:pt>
                <c:pt idx="9">
                  <c:v>263</c:v>
                </c:pt>
                <c:pt idx="10">
                  <c:v>263.5</c:v>
                </c:pt>
                <c:pt idx="11">
                  <c:v>266.3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48F-4718-96A9-EE82BE166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Mar'25</c:v>
                </c:pt>
                <c:pt idx="1">
                  <c:v>Jun'25</c:v>
                </c:pt>
                <c:pt idx="2">
                  <c:v>Sep'25</c:v>
                </c:pt>
                <c:pt idx="3">
                  <c:v>Dec'25</c:v>
                </c:pt>
                <c:pt idx="4">
                  <c:v>Mar'26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266.3</c:v>
                </c:pt>
                <c:pt idx="1">
                  <c:v>270.39999999999998</c:v>
                </c:pt>
                <c:pt idx="2">
                  <c:v>274.89999999999998</c:v>
                </c:pt>
                <c:pt idx="3">
                  <c:v>279.7</c:v>
                </c:pt>
                <c:pt idx="4">
                  <c:v>284.89999999999998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5-44F3-99E2-44AF67829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Monthly Inflation (%)</c:v>
                </c:pt>
              </c:strCache>
            </c:strRef>
          </c:tx>
          <c:spPr>
            <a:solidFill>
              <a:srgbClr val="185A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60-4F59-AD90-A7A1ED7B043C}"/>
              </c:ext>
            </c:extLst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60-4F59-AD90-A7A1ED7B043C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60-4F59-AD90-A7A1ED7B043C}"/>
              </c:ext>
            </c:extLst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60-4F59-AD90-A7A1ED7B043C}"/>
              </c:ext>
            </c:extLst>
          </c:dPt>
          <c:dPt>
            <c:idx val="4"/>
            <c:invertIfNegative val="0"/>
            <c:bubble3D val="0"/>
            <c:spPr>
              <a:solidFill>
                <a:srgbClr val="3D84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60-4F59-AD90-A7A1ED7B043C}"/>
              </c:ext>
            </c:extLst>
          </c:dPt>
          <c:dPt>
            <c:idx val="5"/>
            <c:invertIfNegative val="0"/>
            <c:bubble3D val="0"/>
            <c:spPr>
              <a:solidFill>
                <a:srgbClr val="B8D4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160-4F59-AD90-A7A1ED7B04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Food</c:v>
                </c:pt>
                <c:pt idx="1">
                  <c:v>Clothing</c:v>
                </c:pt>
                <c:pt idx="2">
                  <c:v>Housing</c:v>
                </c:pt>
                <c:pt idx="3">
                  <c:v>Health</c:v>
                </c:pt>
                <c:pt idx="4">
                  <c:v>Transport</c:v>
                </c:pt>
                <c:pt idx="5">
                  <c:v>Education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</c:v>
                </c:pt>
                <c:pt idx="1">
                  <c:v>1.0900000000000001</c:v>
                </c:pt>
                <c:pt idx="2">
                  <c:v>1.08</c:v>
                </c:pt>
                <c:pt idx="3">
                  <c:v>1.17</c:v>
                </c:pt>
                <c:pt idx="4">
                  <c:v>0.84</c:v>
                </c:pt>
                <c:pt idx="5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160-4F59-AD90-A7A1ED7B04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Clothing</c:v>
                </c:pt>
                <c:pt idx="1">
                  <c:v>Health</c:v>
                </c:pt>
                <c:pt idx="2">
                  <c:v>Education</c:v>
                </c:pt>
                <c:pt idx="3">
                  <c:v>Headline</c:v>
                </c:pt>
                <c:pt idx="4">
                  <c:v>Housing</c:v>
                </c:pt>
                <c:pt idx="5">
                  <c:v>Food</c:v>
                </c:pt>
                <c:pt idx="6">
                  <c:v>Transport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9.68</c:v>
                </c:pt>
                <c:pt idx="1">
                  <c:v>9.68</c:v>
                </c:pt>
                <c:pt idx="2">
                  <c:v>9.66</c:v>
                </c:pt>
                <c:pt idx="3">
                  <c:v>8.7200000000000006</c:v>
                </c:pt>
                <c:pt idx="4">
                  <c:v>7.15</c:v>
                </c:pt>
                <c:pt idx="5">
                  <c:v>5.39</c:v>
                </c:pt>
                <c:pt idx="6">
                  <c:v>5.04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E-421E-BE31-E5861EE24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 (lower = better)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FF-4B87-8192-C75FF166A02B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FF-4B87-8192-C75FF166A02B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FF-4B87-8192-C75FF166A02B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FF-4B87-8192-C75FF166A0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Student's t ← BEST</c:v>
                </c:pt>
                <c:pt idx="1">
                  <c:v>Laplace</c:v>
                </c:pt>
                <c:pt idx="2">
                  <c:v>Gamma</c:v>
                </c:pt>
                <c:pt idx="3">
                  <c:v>Normal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596.99</c:v>
                </c:pt>
                <c:pt idx="1">
                  <c:v>606.42999999999995</c:v>
                </c:pt>
                <c:pt idx="2">
                  <c:v>610.79</c:v>
                </c:pt>
                <c:pt idx="3">
                  <c:v>619.25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FF-4B87-8192-C75FF166A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56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2743200" cy="51435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320040"/>
            <a:ext cx="2240280" cy="98755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0" y="429768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</a:rPr>
              <a:t>201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675120" y="912571"/>
            <a:ext cx="2240280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4F0"/>
                </a:solidFill>
              </a:rPr>
              <a:t>Monthly WB Observations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435608"/>
            <a:ext cx="2240280" cy="98755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545336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</a:rPr>
              <a:t>45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675120" y="2028139"/>
            <a:ext cx="2240280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4F0"/>
                </a:solidFill>
              </a:rPr>
              <a:t>IMF Sub-category Months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0" y="2551176"/>
            <a:ext cx="2240280" cy="98755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660904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</a:rPr>
              <a:t>38%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675120" y="3143707"/>
            <a:ext cx="2240280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4F0"/>
                </a:solidFill>
              </a:rPr>
              <a:t>Peak YoY Inflation (2023)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3666744"/>
            <a:ext cx="2240280" cy="98755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3776472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4259275"/>
            <a:ext cx="2240280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4F0"/>
                </a:solidFill>
              </a:rPr>
              <a:t>Statistical Methods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8646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STAT-222  ·  BSDS-02  ·  Advanced </a:t>
            </a: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5029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CPI &amp;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11480" y="1207008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Analysis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11480" y="20574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statistical investigation into Pakistan's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price dynamics (2008–2026)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5303520" cy="22860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9992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012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1148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and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124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Pakistan's inflation matters &amp; research objectives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master datasets — World Bank &amp; IMF sources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29535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modelling &amp; 12-month CPI forecast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8221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8221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867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&amp; Kruskal-Wallis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sub-categories inflate at different rates?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10789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0789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0789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11247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Nonparametric Statistics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 trends &amp; Spearman correlations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19933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19933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9933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7528" y="2039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Fitting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probability distribution describes inflation?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29077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2907792"/>
            <a:ext cx="384048" cy="74980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29077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67528" y="29535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results &amp; real-world implications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389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069080" cy="2880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headline CPI reached 38% year-on-year in May 2023 — one of the worst inflationary episodes in recorded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currency collapse, global commodity shocks, energy subsidy removal and fiscal imbalances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households saw purchasing power collapse — food, rent, fuel all soaring simultaneously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required an IMF bailout under strict austerity conditions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statistically investigates: how, how much, and in which categories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4920" y="1078992"/>
            <a:ext cx="3749040" cy="36118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5780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2936" y="1804797"/>
            <a:ext cx="3438144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1691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</a:rPr>
              <a:t>Q1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691640"/>
            <a:ext cx="2834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Pakistan's headline CPI behave over time, and where is it heading?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02936" y="2532888"/>
            <a:ext cx="3438144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2514600"/>
            <a:ext cx="2834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monthly inflation rates differ across expenditure sub-categories?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02936" y="3241548"/>
            <a:ext cx="3438144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57800" y="3337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D4F0"/>
                </a:solidFill>
              </a:rPr>
              <a:t>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statistically significant monotonic trend in each sub-category?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02936" y="3966210"/>
            <a:ext cx="3438144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57800" y="4160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probability distribution best characterises monthly inflation rates?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56692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master_WB.csv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Global Inflation Database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773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Coverage: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7739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Jul 2008 – Mar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Rows: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201 monthly observations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688336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724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Base Year: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2010 = 100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3200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Variables: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CPI_Headline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3639312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675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Missing Values: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675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Zero (complete)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Used For: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41513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ARIMA + Distribution Fitting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78992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078992"/>
            <a:ext cx="416052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115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master_IMF.csv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371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SDMX API — COICOP Classification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56048" y="1737360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1773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Coverage: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7739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Jul 2022 – Mar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Rows: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249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45 monthly observations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2688336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10912" y="27249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Base Year: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2015/16 = 100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3200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Variables: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200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Headline + 6 sub-categories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56048" y="3639312"/>
            <a:ext cx="39319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0912" y="3675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Missing Values: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675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Zero (complete)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Used For: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1513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ANOVA + Kruskal-Wallis + Mann-Kendall + Spearman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690872"/>
            <a:ext cx="85039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⚠  Why two separate masters?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97480" y="47183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Incompatible base years (2010 vs 2015/16) make cross-source column comparisons statistically invalid. Each method draws exclusively from one source.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Time Series Analysis (ARIMA)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1591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&amp; KPSS stationarity tests on raw CPI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20665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to stabilise crisis-period variance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25420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&amp; PACF inspection of log-differenced series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auto_arima stepwise search — AIC minimisation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4930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 selected — lowest AIC = -1242.43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" y="39684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diagnostics: Ljung-Box, Durbin-Watson, Shapiro-Wilk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347472" cy="34747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" y="4443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CPI forecast with 95% confidence intervals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60520" cy="36576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545336"/>
            <a:ext cx="3931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1581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Selected Model: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</a:rPr>
              <a:t>ARIMA(1,1,1) + intercept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AIC: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-1242.432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331720"/>
            <a:ext cx="3931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2368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AR(1) Coefficient: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23682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0.9391  (p &lt; 0.001 ***)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7614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MA(1) Coefficient: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0840" y="27614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-0.8315  (p &lt; 0.001 ***)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118104"/>
            <a:ext cx="3931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3154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Ljung-Box p-value: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1.000 at both lag 10 &amp; 20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5478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Durbin-Watson: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35478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0.9965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904488"/>
            <a:ext cx="3931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3941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Forecast Apr 2025: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3941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</a:rPr>
              <a:t>CPI = 267.60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0600" y="43342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Forecast Mar 2026: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20840" y="43342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CPI = 284.95  (CI: 255–318)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 — 12-Month CPI Forecast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029200" y="1051560"/>
          <a:ext cx="3749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9326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ADB"/>
                </a:solidFill>
              </a:rPr>
              <a:t>Historical CPI (2022–2025)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0" y="9326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12-Month Forecast (2025–2026)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4709160"/>
            <a:ext cx="8412480" cy="329184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CPI rises from 267.6 (Apr 2025) to 284.9 by Mar 2026 — ~6.5% cumulative increase; consistent with IMF stabilisation trajectory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One-Way ANOVA &amp; Kruskal-Wallis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H₀: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133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Mean monthly inflation rates are equal across all 6 CPI sub-categories  |  H₁: At least one category differs significantly (α = 0.05)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Data: master_IMF.csv  ·  264 observations  ·  44 months × 6 categories  ·  Monthly % change used (not raw CPI levels)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20624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ADB"/>
                </a:solidFill>
              </a:rPr>
              <a:t>ANOVA Results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402336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F-statistic: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0.1487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p-value: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0.9803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16936"/>
            <a:ext cx="402336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η² effect size: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0.0029 (trivially small)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SS Between: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4.826  (tiny)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575304"/>
            <a:ext cx="402336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SS Within: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1674.911  (dominant)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Tukey HSD: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All pairs p-adj &gt; 0.98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233672"/>
            <a:ext cx="402336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4261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931"/>
                </a:solidFill>
              </a:rPr>
              <a:t>Decision: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4261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</a:rPr>
              <a:t>FAIL TO REJECT H₀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3977640" cy="281635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Kruskal-Wallis (Nonparametric)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2258568"/>
            <a:ext cx="3749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H-statistic: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286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15.4422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642616"/>
            <a:ext cx="3749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10912" y="26700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p-value: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2670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0.0086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026664"/>
            <a:ext cx="3749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10912" y="30540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Decision: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30540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REJECT H₀ 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3127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Why the contradiction?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341071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ANOVA tests means — which are similar.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Kruskal-Wallis tests full rank distributions — which differ because Housing &amp; Transport have extreme volatile distributions vs stable Clothing &amp; Education.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709160"/>
            <a:ext cx="8503920" cy="329184"/>
          </a:xfrm>
          <a:prstGeom prst="rect">
            <a:avLst/>
          </a:prstGeom>
          <a:solidFill>
            <a:srgbClr val="3B0000"/>
          </a:solidFill>
          <a:ln w="12700">
            <a:solidFill>
              <a:srgbClr val="3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Both ANOVA assumptions violated — 5/6 groups non-normal (Shapiro-Wilk) and unequal variances (Levene's F=6.87, p&lt;0.001). Kruskal-Wallis is the primary result.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— Mean Monthly Inflation Rates by Category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78992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78992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72200" y="11704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ADB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08192" y="1554480"/>
            <a:ext cx="263347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08192" y="1554480"/>
            <a:ext cx="54864" cy="67665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36208" y="1572768"/>
            <a:ext cx="24871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All six categories have mean monthly inflation between 0.82% and 1.17%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08192" y="2322576"/>
            <a:ext cx="263347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08192" y="2322576"/>
            <a:ext cx="54864" cy="67665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36208" y="2340864"/>
            <a:ext cx="24871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Differences in means are negligibly small — ANOVA correctly finds no significant difference (F=0.148, p=0.98)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08192" y="3090672"/>
            <a:ext cx="263347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08192" y="3090672"/>
            <a:ext cx="54864" cy="6766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36208" y="3108960"/>
            <a:ext cx="24871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However, behind these similar means lie dramatically different variance structures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08192" y="3858768"/>
            <a:ext cx="2633472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08192" y="3858768"/>
            <a:ext cx="54864" cy="67665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36208" y="3877056"/>
            <a:ext cx="24871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Housing std = 4.13%  vs  Education std = 1.04% — Kruskal-Wallis detects this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Nonparametric Statistics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704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ADB"/>
                </a:solidFill>
              </a:rPr>
              <a:t>Mann-Kendall Trend 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Detects monotonic trends without normality assumption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737360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078992"/>
            <a:ext cx="2880360" cy="36576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170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Spearman Correlation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14813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Rank-based — no linearity assumption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16752" y="1810512"/>
            <a:ext cx="274320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1847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Clothing–Education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21031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ρ = 0.471 ***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16752" y="2487168"/>
            <a:ext cx="274320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2523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Food–Health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80760" y="27797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D4F0"/>
                </a:solidFill>
              </a:rPr>
              <a:t>ρ = 0.327 *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16752" y="3163824"/>
            <a:ext cx="274320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80760" y="32004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Food–Housing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80760" y="34564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D4F0"/>
                </a:solidFill>
              </a:rPr>
              <a:t>ρ = 0.322 *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16752" y="3840480"/>
            <a:ext cx="274320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80760" y="3877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Transport–Others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80760" y="41330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ρ ≈ 0.09 (n.s.)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4709160"/>
            <a:ext cx="8503920" cy="329184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Mann-Kendall series significant at p &lt; 0.001  ·  Z &gt; 1.96 threshold  ·  Every sub-category shows statistically confirmed monotonic upward trend 2022–2026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Method — Probability Distribution Fitting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78992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9601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ADB"/>
                </a:solidFill>
              </a:rPr>
              <a:t>AIC Comparison (lower = better fit)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40680" y="1078992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11704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ADB"/>
                </a:solidFill>
              </a:rPr>
              <a:t>Selection Results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517904"/>
            <a:ext cx="3273552" cy="338328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04688" y="1554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Distribution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27648" y="1554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AIC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150608" y="1554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KS 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73568" y="1554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Winner?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0" y="1883664"/>
            <a:ext cx="3273552" cy="338328"/>
          </a:xfrm>
          <a:prstGeom prst="rect">
            <a:avLst/>
          </a:prstGeom>
          <a:solidFill>
            <a:srgbClr val="E8FFF7"/>
          </a:solidFill>
          <a:ln w="12700">
            <a:solidFill>
              <a:srgbClr val="E8F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0468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Student's t (df=5)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2764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596.99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5060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0.551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7356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YES ✓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249424"/>
            <a:ext cx="3273552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04688" y="22860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Laplace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27648" y="22860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606.43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50608" y="22860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0.164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73568" y="22860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2615184"/>
            <a:ext cx="327355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04688" y="2651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Gamma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27648" y="2651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610.79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50608" y="2651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0.596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73568" y="2651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0" y="2980944"/>
            <a:ext cx="3273552" cy="33832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04688" y="30175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Normal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27648" y="30175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619.25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50608" y="30175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0.242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73568" y="30175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40680" y="3261594"/>
            <a:ext cx="3383280" cy="11887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77840" y="32552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Why Student's t wins: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352958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Monthly inflation data has excess kurtosis of 3.87 — fat tails with more extreme months than Normal predicts. The t-distribution explicitly models fat tails. AIC confirms it provides the most efficient description.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65760" y="4462272"/>
            <a:ext cx="47548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02920" y="4535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5ADB"/>
                </a:solidFill>
              </a:rPr>
              <a:t>Skewness = 0.994  ·  Excess Kurtosis = 3.87  ·  </a:t>
            </a:r>
            <a:r>
              <a:rPr lang="en-US" sz="1000" dirty="0">
                <a:solidFill>
                  <a:srgbClr val="1E293B"/>
                </a:solidFill>
              </a:rPr>
              <a:t>Shapiro-Wilk p &lt; 0.0001  →  Non-normal confirmed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Real-World Implications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96112"/>
            <a:ext cx="4160520" cy="187452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60520" cy="43891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509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CPI Persistent &amp; Rising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950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AR = 0.939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Pakistan's CPI exhibits extreme persistence. Shocks carry forward with 94% strength month after month — structural, not transitory inflation.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3886200" cy="22860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6D6A0"/>
                </a:solidFill>
              </a:rPr>
              <a:t>📌  State Bank must maintain tight monetary policy for extended periods — short-term rate cuts risk reigniting inflation.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4160520" cy="187452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4160520" cy="4389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509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Broad-Based Shock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950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ANOVA p = 0.98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0817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All six sub-categories inflated at statistically equal average rates — the crisis hit every dimension of household spending uniformly.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3886200" cy="228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26771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6D6A0"/>
                </a:solidFill>
              </a:rPr>
              <a:t>📌  No single sector can be targeted for relief. Broad macroeconomic stabilisation (fiscal discipline, exchange rate) is the only effective policy.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160520" cy="187452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16052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Universal Upward Trend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29992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All Z &gt; 5.0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45643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Mann-Kendall confirmed every sub-category rose monotonically (all p &lt; 0.001). Clothing and Health showed the most consistent, uninterrupted increases.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3886200" cy="228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315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6D6A0"/>
                </a:solidFill>
              </a:rPr>
              <a:t>📌  Households cannot escape inflation by switching spending categories — every major expenditure is affected.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160520" cy="187452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944368"/>
            <a:ext cx="41605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Fat-Tailed 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29992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AIC: t=596.99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45643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D4F0"/>
                </a:solidFill>
              </a:rPr>
              <a:t>Student's t-distribution (df=5) best describes inflation. Extreme months occur far more frequently than Normal models predict — kurtosis = 3.87.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4242816"/>
            <a:ext cx="3886200" cy="228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4315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6D6A0"/>
                </a:solidFill>
              </a:rPr>
              <a:t>📌  Risk models built on Normal assumptions underestimate crisis probability. SBP stress tests should use fat-tailed distributions.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12-Month Forecast: CPI rises from 267.6 (Apr 2025) → 284.9 (Mar 2026)  ·  ~6.5% cumulative  ·  Consistent with ongoing IMF stabilisation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7043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Study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388620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IMF sub-category data covers only 45 months — insufficient for pre-crisis vs post-crisis structural comparison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ARIMA residuals are non-normal (Shapiro-Wilk p&lt;0.001, kurtosis=6.70) — forecast confidence intervals may be slightly underestimated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Monthly ANOVA observations are time-dependent — independence assumption technically violated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ANOVA assumptions (normality + equal variances) both violated — parametric result less reliable than Kruskal-Wallis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 transformation only partially addresses the 2022-23 structural break heteroscedasticity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78992"/>
            <a:ext cx="4023360" cy="365760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56048" y="11704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Future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572768"/>
            <a:ext cx="3822192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572768"/>
            <a:ext cx="54864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6093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Extend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10912" y="1847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8D4F0"/>
                </a:solidFill>
              </a:rPr>
              <a:t>Obtain PBS monthly sub-category data back to 2010 for structural break analysis across the 2018 currency crisis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2359152"/>
            <a:ext cx="3822192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2359152"/>
            <a:ext cx="54864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23957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GARCH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10912" y="2633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8D4F0"/>
                </a:solidFill>
              </a:rPr>
              <a:t>Fit GARCH alongside ARIMA to explicitly model time-varying conditional volatility — more appropriate than log transformation for structural breaks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3145536"/>
            <a:ext cx="3822192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3145536"/>
            <a:ext cx="54864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182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Modified MK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8D4F0"/>
                </a:solidFill>
              </a:rPr>
              <a:t>Apply Hamed &amp; Rao (1998) modified Mann-Kendall test correcting for serial correlation in trend detection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3931920"/>
            <a:ext cx="3822192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3931920"/>
            <a:ext cx="54864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39684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Provincial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8D4F0"/>
                </a:solidFill>
              </a:rPr>
              <a:t>Panel data across Pakistan's four provinces using PBS provincial CPI to reveal geographic inflation heterogeneity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</a:rPr>
              <a:t>Pakistan CPI &amp; Household Inflation Analysis  ·  STAT-222  ·  BSDS-02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444752"/>
            <a:ext cx="5486400" cy="36576"/>
          </a:xfrm>
          <a:prstGeom prst="rect">
            <a:avLst/>
          </a:prstGeom>
          <a:solidFill>
            <a:srgbClr val="185A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50876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ARIMA(1,1,1)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Best model  ·  AIC = -1242.43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21408" y="1600200"/>
            <a:ext cx="150876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21408" y="16459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p = 0.98 (ANOVA)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1408" y="2029968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No mean difference across categories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1600200"/>
            <a:ext cx="150876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85616" y="16459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p = 0.009 (K-W)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5616" y="2029968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Distributional differences detected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49824" y="1600200"/>
            <a:ext cx="150876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9824" y="16459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All Z &gt; 5.0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9824" y="2029968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Universal monotonic upward trend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14032" y="1600200"/>
            <a:ext cx="150876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4032" y="1645920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</a:rPr>
              <a:t>Student's 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4032" y="2029968"/>
            <a:ext cx="1508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Best distribution  ·  AIC = 596.99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8046720" cy="178308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2852928"/>
            <a:ext cx="76352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2022–2026 inflationary episode was 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broad-based, and universal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affecting every expenditure category simultaneously with near-identical mean rates but dramatically different volatility profiles.
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fat-tailed Student's t-distribution of monthly inflation confirms that extreme price shocks are </a:t>
            </a: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more probable than standard models predict</a:t>
            </a: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critical implications for monetary policy risk management.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1527</Words>
  <Application>Microsoft Office PowerPoint</Application>
  <PresentationFormat>On-screen Show (16:9)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CPI &amp; Inflation Analysis</dc:title>
  <dc:subject>PptxGenJS Presentation</dc:subject>
  <dc:creator>PptxGenJS</dc:creator>
  <cp:lastModifiedBy>UKASHA SHAFIQUE</cp:lastModifiedBy>
  <cp:revision>2</cp:revision>
  <dcterms:created xsi:type="dcterms:W3CDTF">2026-05-05T06:46:41Z</dcterms:created>
  <dcterms:modified xsi:type="dcterms:W3CDTF">2026-06-02T13:00:16Z</dcterms:modified>
</cp:coreProperties>
</file>